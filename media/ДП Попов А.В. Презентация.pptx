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74" r:id="rId12"/>
    <p:sldId id="269" r:id="rId13"/>
    <p:sldId id="275" r:id="rId14"/>
    <p:sldId id="271" r:id="rId15"/>
    <p:sldId id="276" r:id="rId16"/>
    <p:sldId id="272" r:id="rId17"/>
    <p:sldId id="266" r:id="rId18"/>
    <p:sldId id="273" r:id="rId1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660"/>
  </p:normalViewPr>
  <p:slideViewPr>
    <p:cSldViewPr snapToGrid="0">
      <p:cViewPr>
        <p:scale>
          <a:sx n="100" d="100"/>
          <a:sy n="100" d="100"/>
        </p:scale>
        <p:origin x="356" y="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6EB3A5-4FC5-D09F-9965-21C4152A3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DE0DF6-8D8A-D601-1B49-1F21677839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8C6B991-7527-7C99-4F34-7A74BADE7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D5E9AC2-2C92-6670-C992-E981CBB46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413177-2607-0C4A-588A-5099C615A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726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A700DB-B5B5-A626-97CD-77F9084B5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9D6B66-8237-3720-5CE0-8A22A3A2B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F4AF888-BAF6-9B08-4DB9-6A4F8121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C9C941-6827-30EB-AC77-671A9C1BE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48A030B-E607-A2C0-EDFD-333A7FC97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845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F26576-49D5-AB80-8C86-05B15F601E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2E9DBC-A192-D29A-242A-082D72640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1D8900-4A72-8811-31F3-A9A43FCFA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AFBD00-75B5-4811-5718-46AF7728C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B6058CB-690E-B12D-36E8-CC3D06491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274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92CE6D-0528-DD2C-BCE0-E6E2404CF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1566757-0229-8A48-3A4E-2A85AA23BC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02C17F6-B890-E7D7-E6B5-CFFB44F671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B9827AD-6547-ADC4-66DE-A53612EBD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15C8467-EDC7-E793-BA0A-E6F9D8822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C0F38A2-DA8B-2168-A75E-D0216FE7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68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8D119D-9FC5-007E-663A-9B61F94C2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FDF4C1-F6D8-D521-EB01-E2F919E5C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0626B9-A90C-8A6F-E428-E27EB923AE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C1448B6-F389-1F2D-08A4-D1BEA12DDB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0E0E345-ED4C-D81E-7297-6B0390F367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055C6C-B1B2-6676-2B59-B9DCBA6CB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E19EBD1-BDDD-DA8A-B685-1957D52E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2390F9B-74E6-1505-C020-777DF43B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5458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9F448-9B0B-CC86-8750-29E1AECCE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D8EE533-F7CA-054E-CF57-28FD8E17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4DFC5C-5F6F-E264-4732-BA5296CE2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81C540-520D-3274-4ED1-F8E0DE593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6668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7A49455-C2CC-E423-775F-DB8C81588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E20BB38-9F4D-073B-22B7-9427066F1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2F009C-FC9F-D8D0-FAE3-EE0D38C4D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426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54E7C9-767F-4C1A-BD65-7903069D9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4CB89B-CC93-9E47-E037-8BF4F8D7D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974CAA-26D1-0377-DBBD-D92CB1A133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A295FA6-C3DA-7515-6A17-DAD2918C3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20EB96-0CD1-82CA-C995-46633FBA1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6A949-F91A-CC87-22F6-B5D4EC842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568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2A52DD-CC4D-5435-863D-2161F30A4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2A047E2-71FB-BDF4-FC2B-2C631962E2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533A872-258E-D542-FB41-51F2786733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386BDBA-A77E-3425-7739-87FB2B020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4D1CFA-308F-AF13-9D0A-CD59040C6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4267F2F-42F1-76D9-2D0E-212BED74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9131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1C50FE-0EBF-7894-5585-B89889FCC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573E8D-A48A-BE7B-914F-FA36F84799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21A4D9-511D-16DA-2FA3-B6CADE8B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983A28-DDE4-80F6-222D-E343848DA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8694FB-DBAF-B330-3D70-C39F57C34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5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D0415DD-048C-2C3B-0FA6-71F40EA99E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AC1352-BAC1-D50E-4391-29B56FE4C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7369A7-F871-0B05-BED8-55C0ECC62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6924600-2437-9A0C-65CE-37724A934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51B06C-9CEF-5A0A-3AB5-42BE35CC1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2122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ACB07B-F101-8E90-90AB-D7B4D4C68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CBBD8A8-B238-1793-B18D-51F7696BF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4F9803D-5478-80CC-B685-CDE1B6A741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4781F2-646F-438A-839B-1922E67681C9}" type="datetimeFigureOut">
              <a:rPr lang="ru-RU" smtClean="0"/>
              <a:t>09.05.2026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EC7F91-41F9-943A-1E29-B4BAE57E3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7F878D-5975-7728-8108-97D5802D2B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AD1EF-CBE6-4ABC-8C59-F735F560163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585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EFFD2-4FC1-C293-EC32-6097FBCBF519}"/>
              </a:ext>
            </a:extLst>
          </p:cNvPr>
          <p:cNvSpPr txBox="1"/>
          <p:nvPr/>
        </p:nvSpPr>
        <p:spPr>
          <a:xfrm>
            <a:off x="962025" y="371475"/>
            <a:ext cx="102679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МИНОБРНАУКИ РОССИИ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Федеральное государственное бюджетное образовательное учреждение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высшего образования 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«Гжельский государственный университет»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(ГГУ)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Колледж ГГУ</a:t>
            </a:r>
          </a:p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Специальность 09.02.07 Информационные системы и программирование</a:t>
            </a:r>
          </a:p>
          <a:p>
            <a:pPr algn="ctr"/>
            <a:r>
              <a:rPr lang="ru-RU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Форма обучения - очная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FEA3F0-371D-DE11-0F70-2EF60FA4132C}"/>
              </a:ext>
            </a:extLst>
          </p:cNvPr>
          <p:cNvSpPr txBox="1"/>
          <p:nvPr/>
        </p:nvSpPr>
        <p:spPr>
          <a:xfrm>
            <a:off x="601406" y="2543567"/>
            <a:ext cx="10989183" cy="12262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Презентация по дипломному проекту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на тему: «Разработка информационной системы предприятия оптовой торговли»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F9E88-904F-55E0-FAAA-7A30A9504811}"/>
              </a:ext>
            </a:extLst>
          </p:cNvPr>
          <p:cNvSpPr txBox="1"/>
          <p:nvPr/>
        </p:nvSpPr>
        <p:spPr>
          <a:xfrm>
            <a:off x="4462461" y="6211669"/>
            <a:ext cx="3267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пос.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Электроизолятор </a:t>
            </a:r>
          </a:p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2026 год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DE3A78-6E88-1C25-CBFF-1992BF7FBAF4}"/>
              </a:ext>
            </a:extLst>
          </p:cNvPr>
          <p:cNvSpPr txBox="1"/>
          <p:nvPr/>
        </p:nvSpPr>
        <p:spPr>
          <a:xfrm>
            <a:off x="1267206" y="3975392"/>
            <a:ext cx="10182225" cy="17045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Выполнил: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Попов Андрей Викторович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				            студент группы ИСП-О-22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	    Руководитель: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Вальтер И.В.</a:t>
            </a:r>
          </a:p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Преподаватель колледжа</a:t>
            </a:r>
          </a:p>
        </p:txBody>
      </p:sp>
    </p:spTree>
    <p:extLst>
      <p:ext uri="{BB962C8B-B14F-4D97-AF65-F5344CB8AC3E}">
        <p14:creationId xmlns:p14="http://schemas.microsoft.com/office/powerpoint/2010/main" val="37250807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ACD83EB-CC76-68C1-33F5-B81E53E549E3}"/>
              </a:ext>
            </a:extLst>
          </p:cNvPr>
          <p:cNvSpPr txBox="1">
            <a:spLocks/>
          </p:cNvSpPr>
          <p:nvPr/>
        </p:nvSpPr>
        <p:spPr>
          <a:xfrm>
            <a:off x="838200" y="216403"/>
            <a:ext cx="10515600" cy="812296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17F98-C1AA-BD4E-E3AD-13F94B211267}"/>
              </a:ext>
            </a:extLst>
          </p:cNvPr>
          <p:cNvSpPr txBox="1"/>
          <p:nvPr/>
        </p:nvSpPr>
        <p:spPr>
          <a:xfrm>
            <a:off x="444499" y="1952724"/>
            <a:ext cx="11303001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Современные предприятия пищевой промышленности сталкиваются с высокой конкуренцией, строгими требованиями к качеству и нормативами, что делает традиционные методы управления неэффективными. </a:t>
            </a:r>
          </a:p>
          <a:p>
            <a:pPr algn="just">
              <a:lnSpc>
                <a:spcPct val="150000"/>
              </a:lnSpc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</a:rPr>
              <a:t>	Тема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дипломного проекта — "Разработка информационной системы для пищевого производства" — актуальна, так как направлена на автоматизацию ключевых бизнес-процессов (управление заказами, контроль сырья, производство, аналитика), что повышает общую эффективность, прозрачность и управляемость производства.</a:t>
            </a:r>
          </a:p>
        </p:txBody>
      </p:sp>
    </p:spTree>
    <p:extLst>
      <p:ext uri="{BB962C8B-B14F-4D97-AF65-F5344CB8AC3E}">
        <p14:creationId xmlns:p14="http://schemas.microsoft.com/office/powerpoint/2010/main" val="2646041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71D4BB-55AA-2EAB-8FF2-285A72C64CC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8159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Цели и задачи работы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5431F-35E1-2ADC-1929-463665662F3A}"/>
              </a:ext>
            </a:extLst>
          </p:cNvPr>
          <p:cNvSpPr txBox="1"/>
          <p:nvPr/>
        </p:nvSpPr>
        <p:spPr>
          <a:xfrm>
            <a:off x="838200" y="1181100"/>
            <a:ext cx="106736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автоматизировать ключевые бизнес-процессы пищевого производства.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F208AC-D920-0F82-668F-7BAB7512E10E}"/>
              </a:ext>
            </a:extLst>
          </p:cNvPr>
          <p:cNvSpPr txBox="1"/>
          <p:nvPr/>
        </p:nvSpPr>
        <p:spPr>
          <a:xfrm>
            <a:off x="838200" y="1642765"/>
            <a:ext cx="106736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Задачи:</a:t>
            </a:r>
          </a:p>
          <a:p>
            <a:pPr marL="269875" lvl="0" indent="-87313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предметной области и существующих решений</a:t>
            </a:r>
          </a:p>
          <a:p>
            <a:pPr marL="269875" lvl="0" indent="-87313" algn="just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функциональные и нефункциональные требования к системе;</a:t>
            </a:r>
          </a:p>
          <a:p>
            <a:pPr marL="269875" lvl="0" indent="-87313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 ИС (диаграммы IDEF0, DFD, </a:t>
            </a:r>
            <a:r>
              <a:rPr lang="ru-RU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Case, ER)</a:t>
            </a:r>
          </a:p>
          <a:p>
            <a:pPr marL="269875" lvl="0" indent="-87313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Разработать пользовательский интерфейс</a:t>
            </a:r>
          </a:p>
          <a:p>
            <a:pPr marL="269875" lvl="0" indent="-87313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базу данных и ключевые модули приложения;</a:t>
            </a:r>
          </a:p>
          <a:p>
            <a:pPr marL="269875" lvl="0" indent="-87313">
              <a:buFont typeface="+mj-lt"/>
              <a:buAutoNum type="arabicPeriod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и анализ функциональности системы.</a:t>
            </a:r>
          </a:p>
          <a:p>
            <a:pPr marL="269875" indent="-87313">
              <a:buFont typeface="+mj-lt"/>
              <a:buAutoNum type="arabicPeriod"/>
              <a:tabLst>
                <a:tab pos="269875" algn="l"/>
              </a:tabLst>
            </a:pP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19C889-8623-523A-F722-BC7665C1A419}"/>
              </a:ext>
            </a:extLst>
          </p:cNvPr>
          <p:cNvSpPr txBox="1"/>
          <p:nvPr/>
        </p:nvSpPr>
        <p:spPr>
          <a:xfrm>
            <a:off x="838200" y="4458920"/>
            <a:ext cx="11524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Объект: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деятельность предприятия пищевой промышленности.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F8338-8810-F0CF-5999-E33AFD08D77E}"/>
              </a:ext>
            </a:extLst>
          </p:cNvPr>
          <p:cNvSpPr txBox="1"/>
          <p:nvPr/>
        </p:nvSpPr>
        <p:spPr>
          <a:xfrm>
            <a:off x="838200" y="4920585"/>
            <a:ext cx="115243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процессы управления.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6A776C-85FE-D2E9-8B3A-5D0061389E7D}"/>
              </a:ext>
            </a:extLst>
          </p:cNvPr>
          <p:cNvSpPr txBox="1"/>
          <p:nvPr/>
        </p:nvSpPr>
        <p:spPr>
          <a:xfrm>
            <a:off x="838200" y="5382250"/>
            <a:ext cx="106736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Практическая значимость: 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повышение прозрачности, снижение издержек, повышение конкурентоспособности.</a:t>
            </a:r>
          </a:p>
        </p:txBody>
      </p:sp>
    </p:spTree>
    <p:extLst>
      <p:ext uri="{BB962C8B-B14F-4D97-AF65-F5344CB8AC3E}">
        <p14:creationId xmlns:p14="http://schemas.microsoft.com/office/powerpoint/2010/main" val="2997011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B77447-D9CE-C348-FA5A-E57DDB09F36D}"/>
              </a:ext>
            </a:extLst>
          </p:cNvPr>
          <p:cNvSpPr txBox="1">
            <a:spLocks/>
          </p:cNvSpPr>
          <p:nvPr/>
        </p:nvSpPr>
        <p:spPr>
          <a:xfrm>
            <a:off x="838199" y="206376"/>
            <a:ext cx="10515600" cy="8445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Контекстная 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086AD2-DCC6-0E50-7FF6-F70D5EFD71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2168" y="919780"/>
            <a:ext cx="7807662" cy="573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04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3BFD17-B8B2-5F31-D8AE-DA5DACFA8DAF}"/>
              </a:ext>
            </a:extLst>
          </p:cNvPr>
          <p:cNvSpPr txBox="1">
            <a:spLocks/>
          </p:cNvSpPr>
          <p:nvPr/>
        </p:nvSpPr>
        <p:spPr>
          <a:xfrm>
            <a:off x="838199" y="184150"/>
            <a:ext cx="10515600" cy="10445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декомпозиции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BAA5C2B-A78D-1828-4095-D00B438AC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837" y="806183"/>
            <a:ext cx="11112325" cy="5886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09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3F24AC-86A3-DB80-A4FD-2144DA9B6C0A}"/>
              </a:ext>
            </a:extLst>
          </p:cNvPr>
          <p:cNvSpPr txBox="1">
            <a:spLocks/>
          </p:cNvSpPr>
          <p:nvPr/>
        </p:nvSpPr>
        <p:spPr>
          <a:xfrm>
            <a:off x="838200" y="129071"/>
            <a:ext cx="10515600" cy="10350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DFD-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9B79781-F2ED-6CAE-6BE3-0BC588B16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5584" y="767586"/>
            <a:ext cx="9460832" cy="5840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334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2826D-F354-689D-87C5-D352EDB734D0}"/>
              </a:ext>
            </a:extLst>
          </p:cNvPr>
          <p:cNvSpPr txBox="1">
            <a:spLocks/>
          </p:cNvSpPr>
          <p:nvPr/>
        </p:nvSpPr>
        <p:spPr>
          <a:xfrm>
            <a:off x="760141" y="185062"/>
            <a:ext cx="10515600" cy="10731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ER-</a:t>
            </a:r>
            <a:r>
              <a:rPr lang="ru-RU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  <a:endParaRPr lang="ru-RU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2F6D16-3A7A-78C6-77F3-0E16815B8E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2948" y="752495"/>
            <a:ext cx="6206103" cy="592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665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AA970-A30F-A2C4-BBF1-0B393498FB60}"/>
              </a:ext>
            </a:extLst>
          </p:cNvPr>
          <p:cNvSpPr txBox="1">
            <a:spLocks/>
          </p:cNvSpPr>
          <p:nvPr/>
        </p:nvSpPr>
        <p:spPr>
          <a:xfrm>
            <a:off x="838200" y="152786"/>
            <a:ext cx="10515600" cy="8826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BD146B5-A8F0-6CFD-ABA1-4F8B3810A4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41525"/>
            <a:ext cx="10269354" cy="57963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20146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0059FD-05BD-9B97-58E3-F9A1438A5B4B}"/>
              </a:ext>
            </a:extLst>
          </p:cNvPr>
          <p:cNvSpPr txBox="1">
            <a:spLocks/>
          </p:cNvSpPr>
          <p:nvPr/>
        </p:nvSpPr>
        <p:spPr>
          <a:xfrm>
            <a:off x="578317" y="3089711"/>
            <a:ext cx="10515600" cy="99695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USE-CASE </a:t>
            </a: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16FD5E3-1800-40F0-CE5E-187492C686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44921"/>
            <a:ext cx="4523873" cy="676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91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DBB232-6638-8552-D0B7-ECFBDBC0ECA8}"/>
              </a:ext>
            </a:extLst>
          </p:cNvPr>
          <p:cNvSpPr txBox="1">
            <a:spLocks/>
          </p:cNvSpPr>
          <p:nvPr/>
        </p:nvSpPr>
        <p:spPr>
          <a:xfrm>
            <a:off x="838200" y="79646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270D2-3C60-B4E9-7285-6CC449243F0A}"/>
              </a:ext>
            </a:extLst>
          </p:cNvPr>
          <p:cNvSpPr txBox="1"/>
          <p:nvPr/>
        </p:nvSpPr>
        <p:spPr>
          <a:xfrm>
            <a:off x="1777944" y="1995025"/>
            <a:ext cx="19018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сотрудника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8BD4F-41BA-2D73-8FC8-B7D5FF56F074}"/>
              </a:ext>
            </a:extLst>
          </p:cNvPr>
          <p:cNvSpPr txBox="1"/>
          <p:nvPr/>
        </p:nvSpPr>
        <p:spPr>
          <a:xfrm>
            <a:off x="5002688" y="1995025"/>
            <a:ext cx="21866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авторизации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097897-BDBD-7B0F-24D7-EF37225442A8}"/>
              </a:ext>
            </a:extLst>
          </p:cNvPr>
          <p:cNvSpPr txBox="1"/>
          <p:nvPr/>
        </p:nvSpPr>
        <p:spPr>
          <a:xfrm>
            <a:off x="8672931" y="1982300"/>
            <a:ext cx="15423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клиента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D499E8-5D3D-5E21-2D6A-205D93FC8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1050" y="2433635"/>
            <a:ext cx="3009900" cy="2362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B51FC013-95F2-A822-3D64-6EE8673F0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4371" y="2433635"/>
            <a:ext cx="3028950" cy="2381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0853245-4EF7-870F-51E5-E60CEEED0C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8679" y="2433636"/>
            <a:ext cx="3039482" cy="23812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0436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0E901-AA4E-15D4-1940-A237FF42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858823-C28D-45C2-EC31-7D7396C85255}"/>
              </a:ext>
            </a:extLst>
          </p:cNvPr>
          <p:cNvSpPr txBox="1">
            <a:spLocks/>
          </p:cNvSpPr>
          <p:nvPr/>
        </p:nvSpPr>
        <p:spPr>
          <a:xfrm>
            <a:off x="838200" y="79646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734D0B-C2EC-8DB7-511D-F06D613AE708}"/>
              </a:ext>
            </a:extLst>
          </p:cNvPr>
          <p:cNvSpPr txBox="1"/>
          <p:nvPr/>
        </p:nvSpPr>
        <p:spPr>
          <a:xfrm>
            <a:off x="1160221" y="1863567"/>
            <a:ext cx="1965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Каталог товаров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D554C9B-5D3C-1B2D-F2D6-EFFC14527A3A}"/>
              </a:ext>
            </a:extLst>
          </p:cNvPr>
          <p:cNvSpPr txBox="1"/>
          <p:nvPr/>
        </p:nvSpPr>
        <p:spPr>
          <a:xfrm>
            <a:off x="5189437" y="934583"/>
            <a:ext cx="18131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Окна клиентов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AE41F7-75D8-F2BF-7D69-89E4D7D94A22}"/>
              </a:ext>
            </a:extLst>
          </p:cNvPr>
          <p:cNvSpPr txBox="1"/>
          <p:nvPr/>
        </p:nvSpPr>
        <p:spPr>
          <a:xfrm>
            <a:off x="8975233" y="1863567"/>
            <a:ext cx="195309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Проверка заказа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AC2BC3-9823-4354-BE5B-852B8B9CB979}"/>
              </a:ext>
            </a:extLst>
          </p:cNvPr>
          <p:cNvSpPr txBox="1"/>
          <p:nvPr/>
        </p:nvSpPr>
        <p:spPr>
          <a:xfrm>
            <a:off x="4830524" y="1863567"/>
            <a:ext cx="2530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создания заказа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25960A6-2C35-9943-7FF6-739605D47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239" y="2391148"/>
            <a:ext cx="3878071" cy="2780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224284A-BC01-6F86-0600-7DE0A1C19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747" y="2391147"/>
            <a:ext cx="3361434" cy="27807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6DCB4BB5-2DBE-D9D4-785D-9B303061E6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2618" y="2380312"/>
            <a:ext cx="3678330" cy="279158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3193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4350C-B3AB-9610-CEF5-597C638E4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48EDB52-63E0-62D4-699F-AF36685F1B9A}"/>
              </a:ext>
            </a:extLst>
          </p:cNvPr>
          <p:cNvSpPr txBox="1"/>
          <p:nvPr/>
        </p:nvSpPr>
        <p:spPr>
          <a:xfrm>
            <a:off x="392887" y="1845687"/>
            <a:ext cx="23084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управления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9569A608-922F-559D-ECE7-1517616A0277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F3C59769-04EF-9E8B-E1F5-0ED32F3D3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88" y="2315430"/>
            <a:ext cx="2660650" cy="290893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6924FA-5386-042D-BBC8-8DB296076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0627" y="1061418"/>
            <a:ext cx="4139820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5FD2F56-BFC3-790C-A538-809C6C2F5E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5724" y="1061418"/>
            <a:ext cx="4139062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6950C16-4CD1-2248-5395-AB5A912E4C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0023" y="3769898"/>
            <a:ext cx="4140424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014D759-3DAA-B8F7-47AA-B3B1C6490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5724" y="3769898"/>
            <a:ext cx="4189488" cy="2520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4807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5E87-64C0-94E3-6F2B-3F9799959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7D221E17-E113-B8D9-A821-CDF9DEDCBF85}"/>
              </a:ext>
            </a:extLst>
          </p:cNvPr>
          <p:cNvSpPr txBox="1">
            <a:spLocks/>
          </p:cNvSpPr>
          <p:nvPr/>
        </p:nvSpPr>
        <p:spPr>
          <a:xfrm>
            <a:off x="838200" y="-47812"/>
            <a:ext cx="10515600" cy="9207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4EA30EE-E082-529F-CF7A-702B98285A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78" y="872938"/>
            <a:ext cx="4653855" cy="2802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26969B1-4BC3-11D3-E45E-174BC7B3D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468" y="872938"/>
            <a:ext cx="4621747" cy="2802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66536FB6-F40F-A9E5-2446-2345647DB8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678" y="3894828"/>
            <a:ext cx="4653855" cy="280240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5D8826C-1F49-ACF2-7513-B4874645D7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468" y="3894828"/>
            <a:ext cx="4621747" cy="280240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7405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50F20-D9DB-2EB2-F3F0-AE8433E22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05B60-6190-7F75-34AF-48589B1B6874}"/>
              </a:ext>
            </a:extLst>
          </p:cNvPr>
          <p:cNvSpPr txBox="1">
            <a:spLocks/>
          </p:cNvSpPr>
          <p:nvPr/>
        </p:nvSpPr>
        <p:spPr>
          <a:xfrm>
            <a:off x="838200" y="-9254"/>
            <a:ext cx="10515600" cy="7376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6F4730A-0ADC-CDE1-D8EA-5A67FA5D55FE}"/>
              </a:ext>
            </a:extLst>
          </p:cNvPr>
          <p:cNvSpPr txBox="1"/>
          <p:nvPr/>
        </p:nvSpPr>
        <p:spPr>
          <a:xfrm>
            <a:off x="2520210" y="1435828"/>
            <a:ext cx="2074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менеджера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BE0A83-4EC1-5E22-389A-36ABF4ED7246}"/>
              </a:ext>
            </a:extLst>
          </p:cNvPr>
          <p:cNvSpPr txBox="1"/>
          <p:nvPr/>
        </p:nvSpPr>
        <p:spPr>
          <a:xfrm>
            <a:off x="7085947" y="1435828"/>
            <a:ext cx="4131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изменения заказа менеджером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9630ED-D142-64ED-89A1-EDD24EE12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599" y="1879782"/>
            <a:ext cx="5109444" cy="309843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DE30CB3-A61D-F7DC-29F1-2824904882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5947" y="1879781"/>
            <a:ext cx="4055828" cy="3098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492347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48617-F642-D56B-8CA8-49A67B70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3F2E0B-42EC-CABE-C750-7851F1B54536}"/>
              </a:ext>
            </a:extLst>
          </p:cNvPr>
          <p:cNvSpPr txBox="1">
            <a:spLocks/>
          </p:cNvSpPr>
          <p:nvPr/>
        </p:nvSpPr>
        <p:spPr>
          <a:xfrm>
            <a:off x="838200" y="-9254"/>
            <a:ext cx="10515600" cy="7376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ED1EA7-E7CA-EB78-3755-B3797E2C6CBA}"/>
              </a:ext>
            </a:extLst>
          </p:cNvPr>
          <p:cNvSpPr txBox="1"/>
          <p:nvPr/>
        </p:nvSpPr>
        <p:spPr>
          <a:xfrm>
            <a:off x="2520210" y="1435828"/>
            <a:ext cx="20742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менеджера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78D678-3B36-4FD6-C924-DC5DFB2AA014}"/>
              </a:ext>
            </a:extLst>
          </p:cNvPr>
          <p:cNvSpPr txBox="1"/>
          <p:nvPr/>
        </p:nvSpPr>
        <p:spPr>
          <a:xfrm>
            <a:off x="7085947" y="1435828"/>
            <a:ext cx="41312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изменения заказа менеджером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CD36A7-9048-3D5B-5F26-3B963632C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531" y="1879781"/>
            <a:ext cx="5275580" cy="31915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38BFC7-0857-7C4F-B0F4-F16C995390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8923" y="1835938"/>
            <a:ext cx="4345305" cy="26352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17526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55EC10-6C28-DD81-C7AC-9C63E04C0B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48FE67-3B21-471D-7B19-58AC5DB3DEE9}"/>
              </a:ext>
            </a:extLst>
          </p:cNvPr>
          <p:cNvSpPr txBox="1">
            <a:spLocks/>
          </p:cNvSpPr>
          <p:nvPr/>
        </p:nvSpPr>
        <p:spPr>
          <a:xfrm>
            <a:off x="838200" y="-9254"/>
            <a:ext cx="10515600" cy="73768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 приложения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D528E9-B937-3B15-5E0B-9B8866B22506}"/>
              </a:ext>
            </a:extLst>
          </p:cNvPr>
          <p:cNvSpPr txBox="1"/>
          <p:nvPr/>
        </p:nvSpPr>
        <p:spPr>
          <a:xfrm>
            <a:off x="239148" y="894511"/>
            <a:ext cx="3474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изменения данных авторизации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8ECED-FEE2-0B4B-8373-7F62F935CFAD}"/>
              </a:ext>
            </a:extLst>
          </p:cNvPr>
          <p:cNvSpPr txBox="1"/>
          <p:nvPr/>
        </p:nvSpPr>
        <p:spPr>
          <a:xfrm>
            <a:off x="7875868" y="1067036"/>
            <a:ext cx="161473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аналитики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BF255C-1503-2D9B-EC0E-B4CF7F310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5868" y="1403354"/>
            <a:ext cx="3755461" cy="3810330"/>
          </a:xfrm>
          <a:prstGeom prst="rect">
            <a:avLst/>
          </a:prstGeom>
          <a:ln>
            <a:noFill/>
          </a:ln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63E6F09-2C78-9A82-3B74-24C0BF55D5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27" y="1267091"/>
            <a:ext cx="2805032" cy="1062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8C16069-2CC1-FB0A-E6C3-463B522603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27" y="2692089"/>
            <a:ext cx="2804444" cy="1103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56E16C7D-75D0-9F40-EF37-5BDB1A678F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027" y="4171155"/>
            <a:ext cx="2814704" cy="14778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2AB123A-1238-1E36-9284-3FCD179C8D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8757" y="2000183"/>
            <a:ext cx="2176780" cy="273748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4ADA62-5260-3760-8A78-4DA08D8D2BAD}"/>
              </a:ext>
            </a:extLst>
          </p:cNvPr>
          <p:cNvSpPr txBox="1"/>
          <p:nvPr/>
        </p:nvSpPr>
        <p:spPr>
          <a:xfrm>
            <a:off x="302325" y="2363556"/>
            <a:ext cx="33704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изменения данных сотрудника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D6BB89-676B-13C7-16E4-CE6422C37664}"/>
              </a:ext>
            </a:extLst>
          </p:cNvPr>
          <p:cNvSpPr txBox="1"/>
          <p:nvPr/>
        </p:nvSpPr>
        <p:spPr>
          <a:xfrm>
            <a:off x="302325" y="3832601"/>
            <a:ext cx="34308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изменения данных поставщика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AF9199-0430-9246-C972-29B3EC7E7ED7}"/>
              </a:ext>
            </a:extLst>
          </p:cNvPr>
          <p:cNvSpPr txBox="1"/>
          <p:nvPr/>
        </p:nvSpPr>
        <p:spPr>
          <a:xfrm>
            <a:off x="4526480" y="1403354"/>
            <a:ext cx="2061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Окно выбора сырья </a:t>
            </a: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(для состава товаров)</a:t>
            </a:r>
          </a:p>
        </p:txBody>
      </p:sp>
    </p:spTree>
    <p:extLst>
      <p:ext uri="{BB962C8B-B14F-4D97-AF65-F5344CB8AC3E}">
        <p14:creationId xmlns:p14="http://schemas.microsoft.com/office/powerpoint/2010/main" val="1902657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736222-8EFE-A8DB-C09F-2082A5D430B5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492808-F366-579F-4486-6678136A8BF3}"/>
              </a:ext>
            </a:extLst>
          </p:cNvPr>
          <p:cNvSpPr txBox="1"/>
          <p:nvPr/>
        </p:nvSpPr>
        <p:spPr>
          <a:xfrm>
            <a:off x="581722" y="1038226"/>
            <a:ext cx="1102855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В рамках дипломного проекта была создана комплексная информационная система для автоматизации и оптимизации деятельности предприятия пищевого производства. Работа охватывала все ключевые этапы: анализ бизнес-процессов, проектирование архитектуры (IDEF0, DFD, ER-диаграммы,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Case), разработку интерфейса и базы данных, а также тестирование. Система обеспечивает разграничение прав, целостность данных и реализует важные бизнес-правила, такие как автоматическое назначение менеджера и проверка наличия сырья.</a:t>
            </a:r>
          </a:p>
          <a:p>
            <a:pPr algn="just">
              <a:lnSpc>
                <a:spcPct val="150000"/>
              </a:lnSpc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Разработанное программное обеспечение представляет собой завершённый продукт, готовый к практическому применению. Оно повышает эффективность управления, снижает вероятность ошибок, упрощает взаимодействие и обеспечивает прозрачность производственных процессов.</a:t>
            </a:r>
          </a:p>
        </p:txBody>
      </p:sp>
    </p:spTree>
    <p:extLst>
      <p:ext uri="{BB962C8B-B14F-4D97-AF65-F5344CB8AC3E}">
        <p14:creationId xmlns:p14="http://schemas.microsoft.com/office/powerpoint/2010/main" val="125249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68C8-7CDE-8E1D-F69F-0FFD903B5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8A9892-E78D-23CB-BF55-E12649476FBC}"/>
              </a:ext>
            </a:extLst>
          </p:cNvPr>
          <p:cNvSpPr txBox="1">
            <a:spLocks/>
          </p:cNvSpPr>
          <p:nvPr/>
        </p:nvSpPr>
        <p:spPr>
          <a:xfrm>
            <a:off x="670931" y="2755900"/>
            <a:ext cx="10515600" cy="673100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5374675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421</Words>
  <Application>Microsoft Office PowerPoint</Application>
  <PresentationFormat>Широкоэкранный</PresentationFormat>
  <Paragraphs>61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Andrei Akulin</dc:creator>
  <cp:lastModifiedBy>Andrei Akulin</cp:lastModifiedBy>
  <cp:revision>3</cp:revision>
  <dcterms:created xsi:type="dcterms:W3CDTF">2026-03-23T16:50:54Z</dcterms:created>
  <dcterms:modified xsi:type="dcterms:W3CDTF">2026-05-09T12:35:19Z</dcterms:modified>
</cp:coreProperties>
</file>